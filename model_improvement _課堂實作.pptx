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</p:sldIdLst>
  <p:sldSz cx="18288000" cy="10287000"/>
  <p:notesSz cx="6858000" cy="9144000"/>
  <p:embeddedFontLst>
    <p:embeddedFont>
      <p:font typeface="Noto Sans T Chinese" panose="02020500000000000000" charset="-120"/>
      <p:regular r:id="rId16"/>
    </p:embeddedFont>
    <p:embeddedFont>
      <p:font typeface="Noto Sans T Chinese Bold" panose="02020500000000000000" charset="-12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Noto Sans TC" panose="020B0200000000000000" pitchFamily="34" charset="-120"/>
      <p:regular r:id="rId22"/>
      <p:bold r:id="rId23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4778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344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12DAB-D3F9-4AAE-BE20-45CE677FC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7FCA3-8F3C-4DC2-AEA2-C33F03B23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93E9B-353F-4D82-A268-E0683D768B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3C6-3786-49FB-8A1F-164190CA29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1BFDB-94AF-48BF-BCA9-CCB7E53198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E956-C08A-4E7D-9192-86E34756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77C5C-B3B4-4CAF-8DB5-47B7EAD81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58B03-2EB1-4BB8-80CF-DC4C292B30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9C0FB-7B73-4C2C-8788-655B6D8AEE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32511-86DD-4509-BC62-3837697912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1B22-EAC3-44DE-84A7-0217346CF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8FEC1-98CC-4A5D-B1DF-93A186371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EE26C-C184-46D5-9821-D1D8E27FF9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5E533-785D-4CA5-B7A9-4C2AD2050B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EEBED-FE53-4AA9-98AD-BE51BE9C06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0977-E032-4C45-8F25-AF13DDAC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58A7-A76B-4D21-AE63-5F17022A8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25579-E638-4CCE-AF75-F6B153A0E5B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791CB-659F-4864-8B40-7E32C2EA14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5E088-ECFA-4897-BC94-0AF0B6D306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C7BF5-F37E-4FF8-BF2B-0765A8858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BEFB3-7C8A-4D6B-B316-3F022D55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C05C9-7F14-4B2B-B360-36A95D6FD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D9C83-3719-494A-9AF2-47548E0AFDC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A13055-571A-45A6-B10C-BB8032BE063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6A007F-828D-40A6-BACF-B2386DD302A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B8DE7-B6FD-403A-8D28-D453BA948E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4227B-A395-4837-A253-1006A896AB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69A69-7129-420C-9985-6885169BE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D60B-115A-40B1-9F19-B03CB1222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068C1-A35F-4741-BF27-5743EE6B20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9C262-DF70-4F2F-B7C3-6B5C098243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D5E6F-13CE-4E6D-AE83-C992C4DC12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FE731-29E6-4FC6-82F0-F2E1059D8B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4C82E-F2E4-4CD3-A915-22BFE0ADE4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85C59-B2E1-45A7-8BD5-68E59F1E75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5A003-51AE-4AA0-ACEA-1B52686B6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689F-6D13-43DB-8F12-BC9707F90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BE1CF-D7DD-470B-90B0-101528C5A4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FE870-A006-4575-BEF9-BC684A182D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3C49-C96D-45C7-99D0-F8C85287D9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DA8A8-D013-426A-9A3A-96DF2801E2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B1C5-193F-463F-BEFF-3FCD0A2AC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73A2E3-1C16-4B1D-A52A-89215EA1E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8EBD4-A6DF-4F73-8340-06113E097EC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44179-1628-4705-8432-DC4FFC3419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1B8F6-87BD-4074-B857-3E6D2141CD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5FE37-36ED-4088-81B9-CA76A50379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B806-9E99-4B00-83B7-987E1B9B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46CA9-C00B-4869-B2EB-C48DEDE85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2ED4C-9F63-4071-A261-107CD09276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D40AF-D72A-4E87-A4A8-24DA1C4820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1050B-CC4D-4C40-8E5D-57540CA44B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363A47-2D85-4C86-90AA-F2ECEC18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3765A-3E1E-4025-8CC8-4EDD9EE0F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45929-2F69-43F6-8C72-2EEB9D1532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CC50F-BCEE-443A-A57B-EFB5B76C2E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07269-DF84-48F2-9BF4-89A43BE172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445ACD-C14F-4E06-B2FC-DB0470E0F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2CED1-1CE4-41CF-85B2-DFF1E4961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0418-0EEE-40A1-A9F9-105E63C94B0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zh-TW" altLang="en-US"/>
              <a:t>2026/10/1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8B484-B07B-41A2-A660-0E40A7EE59C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EE3E7-8AEB-46A1-A357-17A86999E8D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A5C0DB7-14F3-457E-B0B5-AC7D20FA87E5}"/>
              </a:ext>
            </a:extLst>
          </p:cNvPr>
          <p:cNvSpPr>
            <a:spLocks noGrp="1"/>
          </p:cNvSpPr>
          <p:nvPr/>
        </p:nvSpPr>
        <p:spPr>
          <a:xfrm>
            <a:off x="3429000" y="4274534"/>
            <a:ext cx="11430000" cy="163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ts val="12880"/>
              </a:lnSpc>
              <a:buNone/>
              <a:defRPr sz="45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en-US" sz="45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model_improvement</a:t>
            </a:r>
            <a:r>
              <a:rPr lang="zh-TW" altLang="en-US" sz="45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課堂實作</a:t>
            </a:r>
            <a:endParaRPr sz="4500" b="1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257759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4C16E6A-9FE0-41A4-82F7-DFA251C364E3}"/>
              </a:ext>
            </a:extLst>
          </p:cNvPr>
          <p:cNvSpPr>
            <a:spLocks noGrp="1"/>
          </p:cNvSpPr>
          <p:nvPr/>
        </p:nvSpPr>
        <p:spPr>
          <a:xfrm>
            <a:off x="1216533" y="537496"/>
            <a:ext cx="6667500" cy="924433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79"/>
              </a:lnSpc>
              <a:buNone/>
              <a:def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作業目的</a:t>
            </a:r>
            <a:endParaRPr sz="5199" b="1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F013676-29FC-44DE-B145-B34B5E7842AD}"/>
              </a:ext>
            </a:extLst>
          </p:cNvPr>
          <p:cNvSpPr>
            <a:spLocks noGrp="1"/>
          </p:cNvSpPr>
          <p:nvPr/>
        </p:nvSpPr>
        <p:spPr>
          <a:xfrm>
            <a:off x="1216551" y="2077572"/>
            <a:ext cx="15998023" cy="83644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本次作業將以教師提供的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CNN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起始程式碼為基礎，分別實作與觀察模型品質改進方法。Part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0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進行模型評估與錯誤分析，Part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1 ～ Part </a:t>
            </a:r>
            <a:r>
              <a:rPr lang="en-US" altLang="zh-TW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5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分別實作五種改進方法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，</a:t>
            </a:r>
            <a:r>
              <a:rPr lang="en-US" altLang="zh-TW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part6 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則可自行選擇改進方式並評判 </a:t>
            </a:r>
            <a:r>
              <a:rPr lang="en-US" altLang="zh-TW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Improvement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4510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6338BE9-2291-480C-9EA4-C53850A30F0A}"/>
              </a:ext>
            </a:extLst>
          </p:cNvPr>
          <p:cNvSpPr>
            <a:spLocks noGrp="1"/>
          </p:cNvSpPr>
          <p:nvPr/>
        </p:nvSpPr>
        <p:spPr>
          <a:xfrm>
            <a:off x="1325690" y="537496"/>
            <a:ext cx="12382500" cy="924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ts val="7279"/>
              </a:lnSpc>
              <a:buNone/>
              <a:def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Notebook 使用說明與繳交規範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2A9010D-BA4C-43DC-B1D2-24A27AAA63E5}"/>
              </a:ext>
            </a:extLst>
          </p:cNvPr>
          <p:cNvSpPr>
            <a:spLocks noGrp="1"/>
          </p:cNvSpPr>
          <p:nvPr/>
        </p:nvSpPr>
        <p:spPr>
          <a:xfrm>
            <a:off x="1325675" y="1988891"/>
            <a:ext cx="13300645" cy="4004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60"/>
              </a:lnSpc>
              <a:buNone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本次作業請以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同一份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Jupyter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Notebook（.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ipynb）完成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。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5FFB023-A1A3-4D99-91E6-706A5F09D406}"/>
              </a:ext>
            </a:extLst>
          </p:cNvPr>
          <p:cNvSpPr>
            <a:spLocks noGrp="1"/>
          </p:cNvSpPr>
          <p:nvPr/>
        </p:nvSpPr>
        <p:spPr>
          <a:xfrm>
            <a:off x="1325675" y="3853226"/>
            <a:ext cx="13300645" cy="214449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0 ～ Part 5 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請存在同一份</a:t>
            </a:r>
            <a:r>
              <a:rPr lang="en-US" altLang="zh-TW"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Notebook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，並以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Markdown Cell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標示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Part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標題與必要說明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除 Part 0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外，每個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Part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僅可加入指定的改進方法，不可與其他方法併用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程式執行結果請直接保留於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Notebook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中，所有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Cell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均須可由上至下正常執行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繳交前建議執行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Restart Kernel and Run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All，避免依賴暫存變數或個人電腦特定路徑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檔名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：［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學號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］</a:t>
            </a:r>
            <a:r>
              <a:rPr lang="en-US" altLang="zh-TW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_ch3_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課堂練習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.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ipyn</a:t>
            </a:r>
            <a:r>
              <a:rPr lang="en-US"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b</a:t>
            </a:r>
            <a:endParaRPr lang="en-US"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6B406C2-8249-4AE3-A4D2-367D3ECCA0D0}"/>
              </a:ext>
            </a:extLst>
          </p:cNvPr>
          <p:cNvSpPr>
            <a:spLocks noGrp="1"/>
          </p:cNvSpPr>
          <p:nvPr/>
        </p:nvSpPr>
        <p:spPr>
          <a:xfrm>
            <a:off x="1325675" y="3138216"/>
            <a:ext cx="13300645" cy="4621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繳交與執行規範</a:t>
            </a:r>
          </a:p>
        </p:txBody>
      </p:sp>
    </p:spTree>
    <p:extLst>
      <p:ext uri="{BB962C8B-B14F-4D97-AF65-F5344CB8AC3E}">
        <p14:creationId xmlns:p14="http://schemas.microsoft.com/office/powerpoint/2010/main" val="130190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796E36B-F63C-4B30-8D05-8461067B8773}"/>
              </a:ext>
            </a:extLst>
          </p:cNvPr>
          <p:cNvSpPr>
            <a:spLocks noGrp="1"/>
          </p:cNvSpPr>
          <p:nvPr/>
        </p:nvSpPr>
        <p:spPr>
          <a:xfrm>
            <a:off x="1216533" y="799910"/>
            <a:ext cx="14287500" cy="924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ts val="7279"/>
              </a:lnSpc>
              <a:buNone/>
              <a:defRPr sz="345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450" b="1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0  </a:t>
            </a:r>
            <a:r>
              <a:rPr lang="en-US" altLang="zh-TW" sz="3450" b="1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Baseline model</a:t>
            </a:r>
            <a:r>
              <a:rPr lang="zh-TW" altLang="en-US" sz="3450" b="1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準備</a:t>
            </a:r>
            <a:endParaRPr sz="3450" b="1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486D343-7E39-4FCF-B3FD-A93FB83A008B}"/>
              </a:ext>
            </a:extLst>
          </p:cNvPr>
          <p:cNvSpPr>
            <a:spLocks noGrp="1"/>
          </p:cNvSpPr>
          <p:nvPr/>
        </p:nvSpPr>
        <p:spPr>
          <a:xfrm>
            <a:off x="1216551" y="2077572"/>
            <a:ext cx="13300645" cy="4004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僅須執行</a:t>
            </a:r>
            <a:r>
              <a:rPr lang="en-US" altLang="zh-TW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part1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前的所有</a:t>
            </a:r>
            <a:r>
              <a:rPr lang="en-US" altLang="zh-TW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code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即可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203466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B5123F0-3B1E-4D6F-99DB-2C0BC7BC9FAF}"/>
              </a:ext>
            </a:extLst>
          </p:cNvPr>
          <p:cNvSpPr>
            <a:spLocks noGrp="1"/>
          </p:cNvSpPr>
          <p:nvPr/>
        </p:nvSpPr>
        <p:spPr>
          <a:xfrm>
            <a:off x="1216533" y="723710"/>
            <a:ext cx="14287500" cy="924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ts val="7279"/>
              </a:lnSpc>
              <a:buNone/>
              <a:defRPr sz="345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450" b="1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1  L2 Regularization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6AE84B5-F73B-4275-B8A0-145BEC65ED76}"/>
              </a:ext>
            </a:extLst>
          </p:cNvPr>
          <p:cNvSpPr>
            <a:spLocks noGrp="1"/>
          </p:cNvSpPr>
          <p:nvPr/>
        </p:nvSpPr>
        <p:spPr>
          <a:xfrm>
            <a:off x="1216551" y="2077572"/>
            <a:ext cx="13300645" cy="42659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在教師提供的 CNN 起始程式碼中，僅加入 L2 Regularization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BD3B990-124B-45FA-9FE8-A9897846FC0F}"/>
              </a:ext>
            </a:extLst>
          </p:cNvPr>
          <p:cNvSpPr>
            <a:spLocks noGrp="1"/>
          </p:cNvSpPr>
          <p:nvPr/>
        </p:nvSpPr>
        <p:spPr>
          <a:xfrm>
            <a:off x="1216551" y="3582360"/>
            <a:ext cx="13300645" cy="17084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在 Optimizer 中</a:t>
            </a: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自行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設定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weight_decay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1036330" lvl="2" indent="-345443" algn="l">
              <a:lnSpc>
                <a:spcPts val="3360"/>
              </a:lnSpc>
              <a:buFont typeface="Arial"/>
              <a:buChar char="⚬"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訓練模型，並以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Validation Accuracy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選出最佳模型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1036330" lvl="2" indent="-345443" algn="l">
              <a:lnSpc>
                <a:spcPts val="3360"/>
              </a:lnSpc>
              <a:buFont typeface="Arial"/>
              <a:buChar char="⚬"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不可同時加入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Dropout、Data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Augmentation、Early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Stopping 或 Batch Normalization</a:t>
            </a:r>
          </a:p>
          <a:p>
            <a:pPr marL="1036330" lvl="2" indent="-345443" algn="l">
              <a:lnSpc>
                <a:spcPts val="3360"/>
              </a:lnSpc>
              <a:buFont typeface="Arial"/>
              <a:buChar char="⚬"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其餘模型架構與訓練設定維持教師提供的起始程式碼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4E6F63-644E-476E-86FC-98A4A820995C}"/>
              </a:ext>
            </a:extLst>
          </p:cNvPr>
          <p:cNvSpPr>
            <a:spLocks noGrp="1"/>
          </p:cNvSpPr>
          <p:nvPr/>
        </p:nvSpPr>
        <p:spPr>
          <a:xfrm>
            <a:off x="1216551" y="2874901"/>
            <a:ext cx="13300645" cy="4621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工作細項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3A2BD1B-BA93-4410-8C5C-FF77F37A0D92}"/>
              </a:ext>
            </a:extLst>
          </p:cNvPr>
          <p:cNvSpPr>
            <a:spLocks noGrp="1"/>
          </p:cNvSpPr>
          <p:nvPr/>
        </p:nvSpPr>
        <p:spPr>
          <a:xfrm>
            <a:off x="1216551" y="6259519"/>
            <a:ext cx="13300645" cy="4621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輸出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351FDAA-4741-4F6E-A233-4DDEC4AC7772}"/>
              </a:ext>
            </a:extLst>
          </p:cNvPr>
          <p:cNvSpPr>
            <a:spLocks noGrp="1"/>
          </p:cNvSpPr>
          <p:nvPr/>
        </p:nvSpPr>
        <p:spPr>
          <a:xfrm>
            <a:off x="1216551" y="6965005"/>
            <a:ext cx="16493167" cy="127977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每個 Epoch 的 Training / Validation Loss 與 Accuracy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Loss Curve、Accuracy Curve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Best Validation Accuracy、Best Epoch、Test Accuracy</a:t>
            </a:r>
          </a:p>
        </p:txBody>
      </p:sp>
    </p:spTree>
    <p:extLst>
      <p:ext uri="{BB962C8B-B14F-4D97-AF65-F5344CB8AC3E}">
        <p14:creationId xmlns:p14="http://schemas.microsoft.com/office/powerpoint/2010/main" val="56951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BC5E8AA-4DA2-4742-8449-08A6DE1ECB2A}"/>
              </a:ext>
            </a:extLst>
          </p:cNvPr>
          <p:cNvSpPr>
            <a:spLocks noGrp="1"/>
          </p:cNvSpPr>
          <p:nvPr/>
        </p:nvSpPr>
        <p:spPr>
          <a:xfrm>
            <a:off x="1216533" y="799910"/>
            <a:ext cx="11430000" cy="924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ts val="7279"/>
              </a:lnSpc>
              <a:buNone/>
              <a:defRPr sz="345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450" b="1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2  Dropout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4DEFE84-F6F2-45B5-AD80-6BDAD7A5BA78}"/>
              </a:ext>
            </a:extLst>
          </p:cNvPr>
          <p:cNvSpPr>
            <a:spLocks noGrp="1"/>
          </p:cNvSpPr>
          <p:nvPr/>
        </p:nvSpPr>
        <p:spPr>
          <a:xfrm>
            <a:off x="1216551" y="2077572"/>
            <a:ext cx="13300645" cy="42659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在 hidden fully connected layer 的 activation 後加入 Dropout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846A690-9576-4154-9CF9-3D88980E6A99}"/>
              </a:ext>
            </a:extLst>
          </p:cNvPr>
          <p:cNvSpPr>
            <a:spLocks noGrp="1"/>
          </p:cNvSpPr>
          <p:nvPr/>
        </p:nvSpPr>
        <p:spPr>
          <a:xfrm>
            <a:off x="1028700" y="3524060"/>
            <a:ext cx="12872830" cy="3714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518165" lvl="1" indent="-259082" algn="l">
              <a:lnSpc>
                <a:spcPts val="3360"/>
              </a:lnSpc>
              <a:buFont typeface="Arial"/>
              <a:buChar char="•"/>
              <a:defRPr sz="1875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 b="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加入</a:t>
            </a:r>
            <a:r>
              <a:rPr sz="2400" b="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Dropout(p)</a:t>
            </a:r>
            <a:r>
              <a:rPr lang="zh-TW" altLang="en-US" sz="2400" b="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，</a:t>
            </a:r>
            <a:r>
              <a:rPr lang="en-US" altLang="zh-TW" sz="2400" b="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</a:t>
            </a:r>
            <a:r>
              <a:rPr lang="zh-TW" altLang="en-US" sz="2400" b="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值請自行實驗設定</a:t>
            </a:r>
            <a:endParaRPr sz="2400" b="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1036330" lvl="2" indent="-345443" algn="l">
              <a:lnSpc>
                <a:spcPts val="3360"/>
              </a:lnSpc>
              <a:buFont typeface="Arial"/>
              <a:buChar char="⚬"/>
              <a:defRPr sz="1875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 b="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Dropout </a:t>
            </a:r>
            <a:r>
              <a:rPr sz="2400" b="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應放在</a:t>
            </a:r>
            <a:r>
              <a:rPr sz="2400" b="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hidden layer 的 activation </a:t>
            </a:r>
            <a:r>
              <a:rPr sz="2400" b="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後，不可放在最終輸出層</a:t>
            </a:r>
            <a:endParaRPr sz="2400" b="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1036330" lvl="2" indent="-345443" algn="l">
              <a:lnSpc>
                <a:spcPts val="3360"/>
              </a:lnSpc>
              <a:buFont typeface="Arial"/>
              <a:buChar char="⚬"/>
              <a:defRPr sz="1875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 b="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訓練模型，並以</a:t>
            </a:r>
            <a:r>
              <a:rPr sz="2400" b="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Validation Accuracy </a:t>
            </a:r>
            <a:r>
              <a:rPr sz="2400" b="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選出最佳模型</a:t>
            </a:r>
            <a:endParaRPr sz="2400" b="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1036330" lvl="2" indent="-345443" algn="l">
              <a:lnSpc>
                <a:spcPts val="3360"/>
              </a:lnSpc>
              <a:buFont typeface="Arial"/>
              <a:buChar char="⚬"/>
              <a:defRPr sz="1875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 b="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不可同時加入其他模型改進方法</a:t>
            </a:r>
            <a:endParaRPr sz="2400" b="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1B957A9-5E65-4B81-9B2F-A87C8AA9E730}"/>
              </a:ext>
            </a:extLst>
          </p:cNvPr>
          <p:cNvSpPr>
            <a:spLocks noGrp="1"/>
          </p:cNvSpPr>
          <p:nvPr/>
        </p:nvSpPr>
        <p:spPr>
          <a:xfrm>
            <a:off x="1216551" y="2874901"/>
            <a:ext cx="13300645" cy="4621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工作細項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151B1B5-7994-43B8-81AB-263034CA63F4}"/>
              </a:ext>
            </a:extLst>
          </p:cNvPr>
          <p:cNvSpPr>
            <a:spLocks noGrp="1"/>
          </p:cNvSpPr>
          <p:nvPr/>
        </p:nvSpPr>
        <p:spPr>
          <a:xfrm>
            <a:off x="1447200" y="6259092"/>
            <a:ext cx="4893784" cy="46215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輸出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D9554C3-6BBD-44C4-B470-0A8FF0B04B4F}"/>
              </a:ext>
            </a:extLst>
          </p:cNvPr>
          <p:cNvSpPr>
            <a:spLocks noGrp="1"/>
          </p:cNvSpPr>
          <p:nvPr/>
        </p:nvSpPr>
        <p:spPr>
          <a:xfrm>
            <a:off x="1216532" y="6829955"/>
            <a:ext cx="10948963" cy="2857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  <a:defRPr sz="1800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完整模型架構，清楚標示 Dropout 位置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  <a:defRPr sz="1800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每個 Epoch 的 Training / Validation Loss 與 Accuracy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  <a:defRPr sz="1800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Loss Curve、Accuracy Curve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  <a:defRPr sz="1800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 b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Best Validation Accuracy、Best Epoch、Test Accuracy</a:t>
            </a:r>
          </a:p>
        </p:txBody>
      </p:sp>
    </p:spTree>
    <p:extLst>
      <p:ext uri="{BB962C8B-B14F-4D97-AF65-F5344CB8AC3E}">
        <p14:creationId xmlns:p14="http://schemas.microsoft.com/office/powerpoint/2010/main" val="49509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448F94E-80B2-431C-B025-B0BCACEAA049}"/>
              </a:ext>
            </a:extLst>
          </p:cNvPr>
          <p:cNvSpPr>
            <a:spLocks noGrp="1"/>
          </p:cNvSpPr>
          <p:nvPr/>
        </p:nvSpPr>
        <p:spPr>
          <a:xfrm>
            <a:off x="1028700" y="799910"/>
            <a:ext cx="12382500" cy="924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ts val="7279"/>
              </a:lnSpc>
              <a:buNone/>
              <a:defRPr sz="345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450" b="1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3  Data Augmentation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2872A3A-E3C5-4A8B-9973-599D1E4D50F3}"/>
              </a:ext>
            </a:extLst>
          </p:cNvPr>
          <p:cNvSpPr>
            <a:spLocks noGrp="1"/>
          </p:cNvSpPr>
          <p:nvPr/>
        </p:nvSpPr>
        <p:spPr>
          <a:xfrm>
            <a:off x="1216551" y="2077572"/>
            <a:ext cx="13300645" cy="42659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只對 Training Set 套用 Data Augmentation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E24C77F-3965-40BD-B0E0-C4CD4148A439}"/>
              </a:ext>
            </a:extLst>
          </p:cNvPr>
          <p:cNvSpPr>
            <a:spLocks noGrp="1"/>
          </p:cNvSpPr>
          <p:nvPr/>
        </p:nvSpPr>
        <p:spPr>
          <a:xfrm>
            <a:off x="1216551" y="2874901"/>
            <a:ext cx="13300645" cy="4621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工作細項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833E808-1FA0-4960-85CD-4E10CAB8199E}"/>
              </a:ext>
            </a:extLst>
          </p:cNvPr>
          <p:cNvSpPr>
            <a:spLocks noGrp="1"/>
          </p:cNvSpPr>
          <p:nvPr/>
        </p:nvSpPr>
        <p:spPr>
          <a:xfrm>
            <a:off x="1216568" y="6048099"/>
            <a:ext cx="13300645" cy="4621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輸出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8CB0355-3CAF-4E7B-90A5-77ECBF98258F}"/>
              </a:ext>
            </a:extLst>
          </p:cNvPr>
          <p:cNvSpPr txBox="1"/>
          <p:nvPr/>
        </p:nvSpPr>
        <p:spPr>
          <a:xfrm>
            <a:off x="1216550" y="3486899"/>
            <a:ext cx="137053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僅對 </a:t>
            </a: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Training Set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套用 </a:t>
            </a: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Data Augmentation</a:t>
            </a:r>
          </a:p>
          <a:p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任選一種課堂介紹的 </a:t>
            </a: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Data Augmentation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方法，並清楚說明所使用的方法與參數</a:t>
            </a:r>
            <a:endParaRPr lang="en-US" altLang="zh-TW" sz="2400">
              <a:solidFill>
                <a:srgbClr val="000000"/>
              </a:solidFill>
              <a:latin typeface="Noto Sans T Chinese"/>
              <a:ea typeface="Noto Sans T Chinese"/>
            </a:endParaRPr>
          </a:p>
          <a:p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選用的方法須適合資料特性，且不得改變原始類別語意</a:t>
            </a:r>
            <a:endParaRPr lang="en-US" altLang="zh-TW" sz="2400">
              <a:solidFill>
                <a:srgbClr val="000000"/>
              </a:solidFill>
              <a:latin typeface="Noto Sans T Chinese"/>
              <a:ea typeface="Noto Sans T Chinese"/>
            </a:endParaRPr>
          </a:p>
          <a:p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Validation Set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與 </a:t>
            </a: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Test Set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僅使用 </a:t>
            </a: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ToTensor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與 </a:t>
            </a: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Normalize</a:t>
            </a:r>
          </a:p>
          <a:p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訓練模型，並以 </a:t>
            </a: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Validation Accuracy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選出最佳模型</a:t>
            </a:r>
            <a:endParaRPr lang="en-US" altLang="zh-TW" sz="2400">
              <a:solidFill>
                <a:srgbClr val="000000"/>
              </a:solidFill>
              <a:latin typeface="Noto Sans T Chinese"/>
              <a:ea typeface="Noto Sans T Chinese"/>
            </a:endParaRPr>
          </a:p>
          <a:p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不可同時加入其他模型改進方法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F1E38FCA-DDAF-49A4-ACA6-359539296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550" y="6510252"/>
            <a:ext cx="1286275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TW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顯示所選 Data Augmentation 方法與參數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TW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隨機顯示 5 張 augmentation 後的 Training Set 圖片及 Ground Truth Label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TW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每個 Epoch 的 Training / Validation Loss 與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TW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Loss Curve、Accuracy Curve、Best Validation Accuracy、Best Epoch、Test Accuracy </a:t>
            </a:r>
          </a:p>
        </p:txBody>
      </p:sp>
    </p:spTree>
    <p:extLst>
      <p:ext uri="{BB962C8B-B14F-4D97-AF65-F5344CB8AC3E}">
        <p14:creationId xmlns:p14="http://schemas.microsoft.com/office/powerpoint/2010/main" val="1828045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5DE8CFB-C46B-455C-A968-9B7B743C99E1}"/>
              </a:ext>
            </a:extLst>
          </p:cNvPr>
          <p:cNvSpPr>
            <a:spLocks noGrp="1"/>
          </p:cNvSpPr>
          <p:nvPr/>
        </p:nvSpPr>
        <p:spPr>
          <a:xfrm>
            <a:off x="1216533" y="799910"/>
            <a:ext cx="12382500" cy="924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ts val="7279"/>
              </a:lnSpc>
              <a:buNone/>
              <a:defRPr sz="345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450" b="1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4  Early Stopping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5AC5EE3-68D1-436B-B713-F2312BF351CD}"/>
              </a:ext>
            </a:extLst>
          </p:cNvPr>
          <p:cNvSpPr>
            <a:spLocks noGrp="1"/>
          </p:cNvSpPr>
          <p:nvPr/>
        </p:nvSpPr>
        <p:spPr>
          <a:xfrm>
            <a:off x="1216551" y="2077572"/>
            <a:ext cx="13300645" cy="42659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使用 Validation Loss 監控訓練過程，避免過度訓練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7B9C740-9B4A-4242-8B39-69095F1287A4}"/>
              </a:ext>
            </a:extLst>
          </p:cNvPr>
          <p:cNvSpPr>
            <a:spLocks noGrp="1"/>
          </p:cNvSpPr>
          <p:nvPr/>
        </p:nvSpPr>
        <p:spPr>
          <a:xfrm>
            <a:off x="1216551" y="3481757"/>
            <a:ext cx="14564351" cy="214449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60"/>
              </a:lnSpc>
              <a:buNone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監控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Validation Loss</a:t>
            </a: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zh-TW" altLang="en-US"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請自行實驗尋找最佳 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patience</a:t>
            </a: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Validation Loss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改善時保存最佳模型權重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觸發停止後，載回最佳模型權重再進行</a:t>
            </a:r>
            <a:r>
              <a:rPr sz="24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Test Set </a:t>
            </a: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評估</a:t>
            </a:r>
            <a:endParaRPr lang="en-US" sz="24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sz="2400" dirty="0" err="1">
                <a:solidFill>
                  <a:srgbClr val="000000"/>
                </a:solidFill>
                <a:latin typeface="Noto Sans T Chinese"/>
                <a:ea typeface="Noto Sans T Chinese"/>
              </a:rPr>
              <a:t>不可同時加入其他模型改進方法</a:t>
            </a:r>
            <a:endParaRPr sz="2400" dirty="0">
              <a:solidFill>
                <a:srgbClr val="000000"/>
              </a:solidFill>
              <a:latin typeface="Noto Sans T Chinese"/>
              <a:ea typeface="Noto Sans T Chinese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8B25CB-A658-4772-8299-57DB3C8075E8}"/>
              </a:ext>
            </a:extLst>
          </p:cNvPr>
          <p:cNvSpPr>
            <a:spLocks noGrp="1"/>
          </p:cNvSpPr>
          <p:nvPr/>
        </p:nvSpPr>
        <p:spPr>
          <a:xfrm>
            <a:off x="1216551" y="2874901"/>
            <a:ext cx="13300645" cy="4621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工作細項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C742A5-3049-4315-BFB6-F1513510ABC8}"/>
              </a:ext>
            </a:extLst>
          </p:cNvPr>
          <p:cNvSpPr>
            <a:spLocks noGrp="1"/>
          </p:cNvSpPr>
          <p:nvPr/>
        </p:nvSpPr>
        <p:spPr>
          <a:xfrm>
            <a:off x="1216551" y="5935397"/>
            <a:ext cx="13300645" cy="46215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輸出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542008-56A0-4DF6-83D5-7F9146603F61}"/>
              </a:ext>
            </a:extLst>
          </p:cNvPr>
          <p:cNvSpPr>
            <a:spLocks noGrp="1"/>
          </p:cNvSpPr>
          <p:nvPr/>
        </p:nvSpPr>
        <p:spPr>
          <a:xfrm>
            <a:off x="1216551" y="6545632"/>
            <a:ext cx="16493167" cy="250126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每個 Epoch 的 Training / Validation Loss 與 Accuracy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Loss Curve、Accuracy Curve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Early Stopping 觸發的 Epoch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Best Validation Loss、Best Epoch、Test Accuracy</a:t>
            </a:r>
          </a:p>
        </p:txBody>
      </p:sp>
    </p:spTree>
    <p:extLst>
      <p:ext uri="{BB962C8B-B14F-4D97-AF65-F5344CB8AC3E}">
        <p14:creationId xmlns:p14="http://schemas.microsoft.com/office/powerpoint/2010/main" val="154273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EC3236C-32BC-4935-AE33-0873591AB490}"/>
              </a:ext>
            </a:extLst>
          </p:cNvPr>
          <p:cNvSpPr>
            <a:spLocks noGrp="1"/>
          </p:cNvSpPr>
          <p:nvPr/>
        </p:nvSpPr>
        <p:spPr>
          <a:xfrm>
            <a:off x="1216533" y="799910"/>
            <a:ext cx="10477500" cy="887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600" b="1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5  Batch Normalization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1FBA86-B114-4533-A520-25C6A4754C11}"/>
              </a:ext>
            </a:extLst>
          </p:cNvPr>
          <p:cNvSpPr>
            <a:spLocks noGrp="1"/>
          </p:cNvSpPr>
          <p:nvPr/>
        </p:nvSpPr>
        <p:spPr>
          <a:xfrm>
            <a:off x="1216533" y="2077593"/>
            <a:ext cx="13300615" cy="405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95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195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在每一個 convolution block 中加入 Batch Normalization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0A689-990F-457A-A46A-77D8EE52C03D}"/>
              </a:ext>
            </a:extLst>
          </p:cNvPr>
          <p:cNvSpPr>
            <a:spLocks noGrp="1"/>
          </p:cNvSpPr>
          <p:nvPr/>
        </p:nvSpPr>
        <p:spPr>
          <a:xfrm>
            <a:off x="1216533" y="2874931"/>
            <a:ext cx="7620000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工作細項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A9E18F-8EC5-4927-971F-CC1A016E4016}"/>
              </a:ext>
            </a:extLst>
          </p:cNvPr>
          <p:cNvSpPr>
            <a:spLocks noGrp="1"/>
          </p:cNvSpPr>
          <p:nvPr/>
        </p:nvSpPr>
        <p:spPr>
          <a:xfrm>
            <a:off x="1216533" y="3445764"/>
            <a:ext cx="8191500" cy="390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Conv2d → BatchNorm2d → ReLU → Pooling</a:t>
            </a: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每個 convolution block 均依上述順序設計</a:t>
            </a: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訓練時使用 model.train()；Validation 與 Test 時使用 model.eval()</a:t>
            </a: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不可同時加入其他模型改進方法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9B04F3-DA79-4A3C-A8EA-3715934CA982}"/>
              </a:ext>
            </a:extLst>
          </p:cNvPr>
          <p:cNvSpPr>
            <a:spLocks noGrp="1"/>
          </p:cNvSpPr>
          <p:nvPr/>
        </p:nvSpPr>
        <p:spPr>
          <a:xfrm>
            <a:off x="1216533" y="5773007"/>
            <a:ext cx="4893755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輸出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036FDA-3BAC-4C79-A5BB-9819CF5E4EF5}"/>
              </a:ext>
            </a:extLst>
          </p:cNvPr>
          <p:cNvSpPr>
            <a:spLocks noGrp="1"/>
          </p:cNvSpPr>
          <p:nvPr/>
        </p:nvSpPr>
        <p:spPr>
          <a:xfrm>
            <a:off x="1216532" y="6343840"/>
            <a:ext cx="11916371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完整模型架構，清楚顯示 BatchNorm layers</a:t>
            </a: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每個 Epoch 的 Training / Validation Loss 與 Accuracy</a:t>
            </a: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Loss Curve、Accuracy Curve</a:t>
            </a: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Best Validation Accuracy、Best Epoch、Test Accuracy</a:t>
            </a:r>
          </a:p>
        </p:txBody>
      </p:sp>
    </p:spTree>
    <p:extLst>
      <p:ext uri="{BB962C8B-B14F-4D97-AF65-F5344CB8AC3E}">
        <p14:creationId xmlns:p14="http://schemas.microsoft.com/office/powerpoint/2010/main" val="185334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EC3236C-32BC-4935-AE33-0873591AB490}"/>
              </a:ext>
            </a:extLst>
          </p:cNvPr>
          <p:cNvSpPr>
            <a:spLocks noGrp="1"/>
          </p:cNvSpPr>
          <p:nvPr/>
        </p:nvSpPr>
        <p:spPr>
          <a:xfrm>
            <a:off x="1216533" y="799910"/>
            <a:ext cx="10477500" cy="887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</a:t>
            </a:r>
            <a:r>
              <a:rPr lang="en-US" altLang="zh-TW"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6</a:t>
            </a:r>
            <a:r>
              <a:rPr lang="en-US"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 </a:t>
            </a:r>
            <a:r>
              <a:rPr lang="zh-TW" altLang="en-US"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綜合優化</a:t>
            </a:r>
            <a:endParaRPr sz="3600" b="1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1FBA86-B114-4533-A520-25C6A4754C11}"/>
              </a:ext>
            </a:extLst>
          </p:cNvPr>
          <p:cNvSpPr>
            <a:spLocks noGrp="1"/>
          </p:cNvSpPr>
          <p:nvPr/>
        </p:nvSpPr>
        <p:spPr>
          <a:xfrm>
            <a:off x="1216533" y="2077593"/>
            <a:ext cx="13300615" cy="405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95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zh-TW" altLang="en-US"/>
              <a:t>自行選擇</a:t>
            </a:r>
            <a:r>
              <a:rPr lang="en-US" altLang="zh-TW" sz="20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model</a:t>
            </a:r>
            <a:r>
              <a:rPr lang="zh-TW" altLang="en-US" sz="20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</a:t>
            </a:r>
            <a:r>
              <a:rPr lang="en-US" altLang="zh-TW" sz="20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improvement</a:t>
            </a:r>
            <a:r>
              <a:rPr lang="zh-TW" altLang="en-US" sz="20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方式，提升 </a:t>
            </a:r>
            <a:r>
              <a:rPr lang="en-US" altLang="zh-TW" sz="2000"/>
              <a:t>Final Test Accuracy</a:t>
            </a:r>
            <a:endParaRPr sz="195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0A689-990F-457A-A46A-77D8EE52C03D}"/>
              </a:ext>
            </a:extLst>
          </p:cNvPr>
          <p:cNvSpPr>
            <a:spLocks noGrp="1"/>
          </p:cNvSpPr>
          <p:nvPr/>
        </p:nvSpPr>
        <p:spPr>
          <a:xfrm>
            <a:off x="1216533" y="2874931"/>
            <a:ext cx="7620000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工作細項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A9E18F-8EC5-4927-971F-CC1A016E4016}"/>
              </a:ext>
            </a:extLst>
          </p:cNvPr>
          <p:cNvSpPr>
            <a:spLocks noGrp="1"/>
          </p:cNvSpPr>
          <p:nvPr/>
        </p:nvSpPr>
        <p:spPr>
          <a:xfrm>
            <a:off x="1216533" y="3445764"/>
            <a:ext cx="15282424" cy="12713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基於教師提供的 </a:t>
            </a: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CNN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起始程式碼，自行選擇並組合 </a:t>
            </a: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Part 1–5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或已學過的方法，提升模型的 </a:t>
            </a: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Accuracy。</a:t>
            </a: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不可使用預訓練模型、額外資料集、不得以 </a:t>
            </a: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Test Set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調整模型或超參數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9B04F3-DA79-4A3C-A8EA-3715934CA982}"/>
              </a:ext>
            </a:extLst>
          </p:cNvPr>
          <p:cNvSpPr>
            <a:spLocks noGrp="1"/>
          </p:cNvSpPr>
          <p:nvPr/>
        </p:nvSpPr>
        <p:spPr>
          <a:xfrm>
            <a:off x="1216534" y="4849081"/>
            <a:ext cx="4893755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2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輸出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036FDA-3BAC-4C79-A5BB-9819CF5E4EF5}"/>
              </a:ext>
            </a:extLst>
          </p:cNvPr>
          <p:cNvSpPr>
            <a:spLocks noGrp="1"/>
          </p:cNvSpPr>
          <p:nvPr/>
        </p:nvSpPr>
        <p:spPr>
          <a:xfrm>
            <a:off x="1216533" y="5419914"/>
            <a:ext cx="14169241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使用的方法與完整設定，例如 </a:t>
            </a: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Dropout p、weight_decay、augmentation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設定等完整模型架構</a:t>
            </a:r>
            <a:endParaRPr lang="en-US" altLang="zh-TW" sz="2400">
              <a:solidFill>
                <a:srgbClr val="000000"/>
              </a:solidFill>
              <a:latin typeface="Noto Sans T Chinese"/>
              <a:ea typeface="Noto Sans T Chinese"/>
            </a:endParaRP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Training / Validation Loss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與 </a:t>
            </a: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Accuracy curve</a:t>
            </a: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Best Validation Accuracy、Best Epoch、Final Test Accuracy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與教師提供 </a:t>
            </a:r>
            <a:r>
              <a:rPr 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baseline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的比較（</a:t>
            </a: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Improvement = Final Test Accuracy − Baseline Final Test Accuracy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）</a:t>
            </a:r>
            <a:endParaRPr lang="en-US" altLang="zh-TW" sz="2400">
              <a:solidFill>
                <a:srgbClr val="000000"/>
              </a:solidFill>
              <a:latin typeface="Noto Sans T Chinese"/>
              <a:ea typeface="Noto Sans T Chinese"/>
            </a:endParaRPr>
          </a:p>
          <a:p>
            <a:pPr>
              <a:defRPr sz="1875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en-US" altLang="zh-TW" sz="2400">
                <a:solidFill>
                  <a:srgbClr val="000000"/>
                </a:solidFill>
                <a:latin typeface="Noto Sans T Chinese"/>
                <a:ea typeface="Noto Sans T Chinese"/>
              </a:rPr>
              <a:t>3–5 </a:t>
            </a:r>
            <a:r>
              <a:rPr lang="zh-TW" altLang="en-US" sz="2400">
                <a:solidFill>
                  <a:srgbClr val="000000"/>
                </a:solidFill>
                <a:latin typeface="Noto Sans T Chinese"/>
                <a:ea typeface="Noto Sans T Chinese"/>
              </a:rPr>
              <a:t>句說明：為何選這些方法、結果是否有過擬合現象 </a:t>
            </a:r>
            <a:endParaRPr lang="en-US" sz="2400">
              <a:solidFill>
                <a:srgbClr val="000000"/>
              </a:solidFill>
              <a:latin typeface="Noto Sans T Chinese"/>
              <a:ea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419636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2"/>
          <p:cNvGraphicFramePr/>
          <p:nvPr/>
        </p:nvGraphicFramePr>
        <p:xfrm>
          <a:off x="1435150" y="2028825"/>
          <a:ext cx="7315200" cy="62293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Part 1. Data Preparation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15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Part 2. CNN Model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20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Part 3. CNN Training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30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Part 4. Training Curve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15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Part 5. Test Evaluation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10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3">
            <a:extLst>
              <a:ext uri="{FF2B5EF4-FFF2-40B4-BE49-F238E27FC236}">
                <a16:creationId xmlns:a16="http://schemas.microsoft.com/office/drawing/2014/main" id="{CB0AE810-7B10-4AE8-BD0E-D4B959988DC8}"/>
              </a:ext>
            </a:extLst>
          </p:cNvPr>
          <p:cNvSpPr>
            <a:spLocks noGrp="1"/>
          </p:cNvSpPr>
          <p:nvPr/>
        </p:nvSpPr>
        <p:spPr>
          <a:xfrm>
            <a:off x="1435150" y="537527"/>
            <a:ext cx="2451050" cy="86126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7279"/>
              </a:lnSpc>
              <a:buNone/>
            </a:pPr>
            <a:endParaRPr sz="5199" b="1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</a:endParaRPr>
          </a:p>
        </p:txBody>
      </p:sp>
      <p:graphicFrame>
        <p:nvGraphicFramePr>
          <p:cNvPr id="16" name="Table 4"/>
          <p:cNvGraphicFramePr/>
          <p:nvPr/>
        </p:nvGraphicFramePr>
        <p:xfrm>
          <a:off x="9524516" y="2028825"/>
          <a:ext cx="7315200" cy="62293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Final Test Accuracy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Score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≥ 98%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10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90% ～ &lt; 98%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8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&lt; 90%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5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沒結果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Noto Sans T Chinese Bold"/>
                          <a:ea typeface="Noto Sans T Chinese Bold"/>
                          <a:cs typeface="Noto Sans T Chinese Bold"/>
                        </a:rPr>
                        <a:t>0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5">
            <a:extLst>
              <a:ext uri="{FF2B5EF4-FFF2-40B4-BE49-F238E27FC236}">
                <a16:creationId xmlns:a16="http://schemas.microsoft.com/office/drawing/2014/main" id="{BE3FB14F-7496-4F28-BD80-5D5F97DD32F3}"/>
              </a:ext>
            </a:extLst>
          </p:cNvPr>
          <p:cNvSpPr>
            <a:spLocks noGrp="1"/>
          </p:cNvSpPr>
          <p:nvPr/>
        </p:nvSpPr>
        <p:spPr>
          <a:xfrm>
            <a:off x="1435150" y="8616030"/>
            <a:ext cx="13300645" cy="8959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Part 1 ～ Part 5 以是否完成並輸出題目規定結果為主要評分依據</a:t>
            </a:r>
          </a:p>
          <a:p>
            <a:pPr algn="l">
              <a:lnSpc>
                <a:spcPts val="3639"/>
              </a:lnSpc>
              <a:buNone/>
            </a:pPr>
            <a:r>
              <a:rPr sz="25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</a:rPr>
              <a:t>僅有程式碼、但未執行或未顯示結果者，該項目視同未完成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39B0F6-DB2A-468C-9DCF-AC0A715B37C3}"/>
              </a:ext>
            </a:extLst>
          </p:cNvPr>
          <p:cNvSpPr>
            <a:spLocks noGrp="1"/>
          </p:cNvSpPr>
          <p:nvPr/>
        </p:nvSpPr>
        <p:spPr>
          <a:xfrm>
            <a:off x="1435132" y="537496"/>
            <a:ext cx="4762500" cy="887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評分與繳交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7BF1CE-EA84-428F-BC51-77BB69AC7AA3}"/>
              </a:ext>
            </a:extLst>
          </p:cNvPr>
          <p:cNvSpPr>
            <a:spLocks noGrp="1"/>
          </p:cNvSpPr>
          <p:nvPr/>
        </p:nvSpPr>
        <p:spPr>
          <a:xfrm>
            <a:off x="952501" y="1706632"/>
            <a:ext cx="16573500" cy="8334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graphicFrame>
        <p:nvGraphicFramePr>
          <p:cNvPr id="20" name="表格 19"/>
          <p:cNvGraphicFramePr/>
          <p:nvPr>
            <p:extLst>
              <p:ext uri="{D42A27DB-BD31-4B8C-83A1-F6EECF244321}">
                <p14:modId xmlns:p14="http://schemas.microsoft.com/office/powerpoint/2010/main" val="3428521001"/>
              </p:ext>
            </p:extLst>
          </p:nvPr>
        </p:nvGraphicFramePr>
        <p:xfrm>
          <a:off x="1428750" y="2047875"/>
          <a:ext cx="8572500" cy="6429375"/>
        </p:xfrm>
        <a:graphic>
          <a:graphicData uri="http://schemas.openxmlformats.org/drawingml/2006/table">
            <a:tbl>
              <a:tblPr/>
              <a:tblGrid>
                <a:gridCol w="666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項目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配分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0  Model Evaluation and Error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r>
                        <a:rPr lang="en-US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0</a:t>
                      </a:r>
                      <a:endParaRPr sz="1650" b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1  L2 Regularization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r>
                        <a:rPr lang="en-US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2</a:t>
                      </a:r>
                      <a:endParaRPr sz="1650" b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2  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r>
                        <a:rPr lang="en-US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2</a:t>
                      </a:r>
                      <a:endParaRPr sz="1650" b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3  Data 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r>
                        <a:rPr lang="en-US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2</a:t>
                      </a:r>
                      <a:endParaRPr sz="1650" b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4  Early Stopping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r>
                        <a:rPr lang="en-US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2</a:t>
                      </a:r>
                      <a:endParaRPr sz="1650" b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5  Batch 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r>
                        <a:rPr lang="en-US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2</a:t>
                      </a:r>
                      <a:endParaRPr sz="1650" b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lang="en-US" altLang="zh-TW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6</a:t>
                      </a:r>
                      <a:r>
                        <a:rPr lang="zh-TW" altLang="en-US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  綜合優化</a:t>
                      </a:r>
                      <a:endParaRPr sz="1650" b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r>
                        <a:rPr lang="en-US" sz="1650" b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5</a:t>
                      </a:r>
                      <a:endParaRPr sz="1650" b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lang="en-US" sz="165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6 Final Test Accuracy</a:t>
                      </a:r>
                      <a:endParaRPr sz="1650" kern="120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15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259071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4EE0BF85-9DC9-4AF0-9759-67314BB66962}"/>
              </a:ext>
            </a:extLst>
          </p:cNvPr>
          <p:cNvSpPr>
            <a:spLocks noGrp="1"/>
          </p:cNvSpPr>
          <p:nvPr/>
        </p:nvSpPr>
        <p:spPr>
          <a:xfrm>
            <a:off x="1435132" y="8731112"/>
            <a:ext cx="1428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FF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zh-TW" altLang="en-US" sz="1650"/>
              <a:t>各 </a:t>
            </a:r>
            <a:r>
              <a:rPr lang="en-US" altLang="zh-TW" sz="1650"/>
              <a:t>Part </a:t>
            </a:r>
            <a:r>
              <a:rPr lang="zh-TW" altLang="en-US" sz="1650"/>
              <a:t>將綜合評估指定方法是否正確實作、訓練與評估流程是否符合規範、指定輸出是否完整</a:t>
            </a:r>
            <a:endParaRPr lang="en-US" altLang="zh-TW" sz="1650"/>
          </a:p>
          <a:p>
            <a:pPr>
              <a:defRPr sz="1800">
                <a:solidFill>
                  <a:srgbClr val="FF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el-GR" sz="1650">
                <a:solidFill>
                  <a:srgbClr val="FF0000"/>
                </a:solidFill>
                <a:latin typeface="Noto Sans T Chinese"/>
                <a:ea typeface="Noto Sans T Chinese"/>
                <a:cs typeface="Noto Sans T Chinese"/>
              </a:rPr>
              <a:t>Δ=</a:t>
            </a:r>
            <a:r>
              <a:rPr lang="zh-TW" altLang="en-US" sz="1650">
                <a:solidFill>
                  <a:srgbClr val="FF0000"/>
                </a:solidFill>
                <a:latin typeface="Noto Sans T Chinese"/>
                <a:ea typeface="Noto Sans T Chinese"/>
                <a:cs typeface="Noto Sans T Chinese"/>
              </a:rPr>
              <a:t>學生 </a:t>
            </a:r>
            <a:r>
              <a:rPr lang="en-US" sz="1650">
                <a:solidFill>
                  <a:srgbClr val="FF0000"/>
                </a:solidFill>
                <a:latin typeface="Noto Sans T Chinese"/>
                <a:ea typeface="Noto Sans T Chinese"/>
                <a:cs typeface="Noto Sans T Chinese"/>
              </a:rPr>
              <a:t>Final Test Accuracy−</a:t>
            </a:r>
            <a:r>
              <a:rPr lang="zh-TW" altLang="en-US" sz="1650">
                <a:solidFill>
                  <a:srgbClr val="FF0000"/>
                </a:solidFill>
                <a:latin typeface="Noto Sans T Chinese"/>
                <a:ea typeface="Noto Sans T Chinese"/>
                <a:cs typeface="Noto Sans T Chinese"/>
              </a:rPr>
              <a:t>教師提供的 </a:t>
            </a:r>
            <a:r>
              <a:rPr lang="en-US" sz="1650">
                <a:solidFill>
                  <a:srgbClr val="FF0000"/>
                </a:solidFill>
                <a:latin typeface="Noto Sans T Chinese"/>
                <a:ea typeface="Noto Sans T Chinese"/>
                <a:cs typeface="Noto Sans T Chinese"/>
              </a:rPr>
              <a:t>baseline Final Test Accuracy</a:t>
            </a:r>
            <a:endParaRPr sz="1650">
              <a:solidFill>
                <a:srgbClr val="FF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6A9B398-B9A2-46AA-8FFB-A583F57BCD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220194"/>
              </p:ext>
            </p:extLst>
          </p:nvPr>
        </p:nvGraphicFramePr>
        <p:xfrm>
          <a:off x="10314332" y="2049992"/>
          <a:ext cx="7021167" cy="7143750"/>
        </p:xfrm>
        <a:graphic>
          <a:graphicData uri="http://schemas.openxmlformats.org/drawingml/2006/table">
            <a:tbl>
              <a:tblPr/>
              <a:tblGrid>
                <a:gridCol w="3361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9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Part 6 Final Test Accuracy (</a:t>
                      </a:r>
                      <a:r>
                        <a:rPr lang="el-GR" altLang="zh-TW" sz="1650">
                          <a:solidFill>
                            <a:schemeClr val="tx1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Δ</a:t>
                      </a:r>
                      <a:r>
                        <a:rPr lang="en-US" sz="1650" b="1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配分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r>
                        <a:rPr lang="zh-TW" altLang="en-US" sz="1650" b="0" kern="120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提升 ＞ </a:t>
                      </a:r>
                      <a:r>
                        <a:rPr lang="en-US" altLang="zh-TW" sz="1650" b="0" kern="120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4.0 </a:t>
                      </a:r>
                      <a:r>
                        <a:rPr lang="zh-TW" altLang="en-US" sz="1650" b="0" kern="120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個百分點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5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提升 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3.5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～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&lt; 4.0 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個百分點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13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655768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提升 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3.0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～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&lt; 3.5 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個百分點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11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提升 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2.5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～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&lt; 3.0 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個百分點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9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71649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提升 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2.0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～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&lt; 2.5 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個百分點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7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6544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提升 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1.5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～</a:t>
                      </a:r>
                      <a:r>
                        <a:rPr lang="en-US" altLang="zh-TW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&lt; 2.0 </a:t>
                      </a:r>
                      <a:r>
                        <a:rPr lang="zh-TW" alt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個百分點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5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r>
                        <a:rPr lang="zh-TW" altLang="en-US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提升 </a:t>
                      </a:r>
                      <a:r>
                        <a:rPr lang="en-US" altLang="zh-TW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1.0</a:t>
                      </a:r>
                      <a:r>
                        <a:rPr lang="zh-TW" altLang="en-US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～</a:t>
                      </a:r>
                      <a:r>
                        <a:rPr lang="en-US" altLang="zh-TW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&lt; 1.5 </a:t>
                      </a:r>
                      <a:r>
                        <a:rPr lang="zh-TW" altLang="en-US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個百分點</a:t>
                      </a:r>
                      <a:endParaRPr sz="1650" b="0" kern="120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3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lang="zh-TW" altLang="en-US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提升 </a:t>
                      </a:r>
                      <a:r>
                        <a:rPr lang="en-US" altLang="zh-TW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0.5</a:t>
                      </a:r>
                      <a:r>
                        <a:rPr lang="zh-TW" altLang="en-US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～</a:t>
                      </a:r>
                      <a:r>
                        <a:rPr lang="en-US" altLang="zh-TW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&lt; 1.0 </a:t>
                      </a:r>
                      <a:r>
                        <a:rPr lang="zh-TW" altLang="en-US" sz="1650" b="0" kern="120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個百分點</a:t>
                      </a:r>
                      <a:endParaRPr sz="1650" b="0" kern="120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1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r>
                        <a:rPr lang="zh-TW" altLang="en-US" sz="1650" b="0" kern="120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提升 </a:t>
                      </a:r>
                      <a:r>
                        <a:rPr lang="en-US" altLang="zh-TW" sz="1650" b="0" kern="120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0</a:t>
                      </a:r>
                      <a:r>
                        <a:rPr lang="zh-TW" altLang="en-US" sz="1650" b="0" kern="120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+mn-cs"/>
                        </a:rPr>
                        <a:t> 個百分點</a:t>
                      </a:r>
                      <a:endParaRPr sz="1650" b="0" kern="120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000000"/>
                          </a:solidFill>
                          <a:latin typeface="Noto Sans T Chinese"/>
                          <a:ea typeface="Noto Sans T Chinese"/>
                          <a:cs typeface="Noto Sans T Chinese"/>
                        </a:rPr>
                        <a:t>0</a:t>
                      </a:r>
                      <a:endParaRPr sz="1650" b="0" dirty="0">
                        <a:solidFill>
                          <a:srgbClr val="000000"/>
                        </a:solidFill>
                        <a:latin typeface="Noto Sans T Chinese"/>
                        <a:ea typeface="Noto Sans T Chinese"/>
                        <a:cs typeface="Noto Sans T Chines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415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E458AFA-CA8C-4B82-9245-3ACADE394BCD}"/>
              </a:ext>
            </a:extLst>
          </p:cNvPr>
          <p:cNvSpPr>
            <a:spLocks noGrp="1"/>
          </p:cNvSpPr>
          <p:nvPr/>
        </p:nvSpPr>
        <p:spPr>
          <a:xfrm>
            <a:off x="1333498" y="7776453"/>
            <a:ext cx="17047424" cy="135318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759321-16D8-408F-901C-557BAE8A234E}"/>
              </a:ext>
            </a:extLst>
          </p:cNvPr>
          <p:cNvSpPr>
            <a:spLocks noGrp="1"/>
          </p:cNvSpPr>
          <p:nvPr/>
        </p:nvSpPr>
        <p:spPr>
          <a:xfrm>
            <a:off x="1333500" y="7620000"/>
            <a:ext cx="76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F5F0EA-318F-4FC5-9BCB-D5892E3F550D}"/>
              </a:ext>
            </a:extLst>
          </p:cNvPr>
          <p:cNvSpPr>
            <a:spLocks noGrp="1"/>
          </p:cNvSpPr>
          <p:nvPr/>
        </p:nvSpPr>
        <p:spPr>
          <a:xfrm>
            <a:off x="1333500" y="1071954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600" b="1">
                <a:solidFill>
                  <a:srgbClr val="000000"/>
                </a:solidFill>
                <a:latin typeface="Noto Sans T Chinese"/>
                <a:ea typeface="Noto Sans T Chinese"/>
              </a:rPr>
              <a:t>繳交內容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A3D937-6F1E-4C25-AE0E-E616E09DD7D5}"/>
              </a:ext>
            </a:extLst>
          </p:cNvPr>
          <p:cNvSpPr>
            <a:spLocks noGrp="1"/>
          </p:cNvSpPr>
          <p:nvPr/>
        </p:nvSpPr>
        <p:spPr>
          <a:xfrm>
            <a:off x="1333498" y="1833954"/>
            <a:ext cx="15403997" cy="16116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endParaRPr sz="26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>
              <a:defRPr sz="195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zh-TW" altLang="en-US" sz="26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請上傳</a:t>
            </a:r>
            <a:r>
              <a:rPr lang="zh-TW" altLang="en-US" sz="28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［學號］</a:t>
            </a:r>
            <a:r>
              <a:rPr lang="en-US" altLang="zh-TW" sz="28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_ch3_</a:t>
            </a:r>
            <a:r>
              <a:rPr lang="zh-TW" altLang="en-US" sz="28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課堂練習</a:t>
            </a:r>
            <a:r>
              <a:rPr lang="en-US" altLang="zh-TW" sz="28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.</a:t>
            </a:r>
            <a:r>
              <a:rPr lang="en-US" altLang="zh-TW" sz="28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ipynb</a:t>
            </a:r>
            <a:r>
              <a:rPr lang="zh-TW" altLang="en-US" sz="28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 </a:t>
            </a:r>
            <a:r>
              <a:rPr lang="zh-TW" altLang="en-US" sz="260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至 </a:t>
            </a:r>
            <a:r>
              <a:rPr lang="en-US" altLang="zh-TW" sz="260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ilearning</a:t>
            </a:r>
            <a:endParaRPr sz="260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EFF3EF-AAE9-4148-83CD-E92A04C26CD2}"/>
              </a:ext>
            </a:extLst>
          </p:cNvPr>
          <p:cNvSpPr>
            <a:spLocks noGrp="1"/>
          </p:cNvSpPr>
          <p:nvPr/>
        </p:nvSpPr>
        <p:spPr>
          <a:xfrm>
            <a:off x="1333500" y="3462942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600" b="1">
                <a:solidFill>
                  <a:srgbClr val="000000"/>
                </a:solidFill>
                <a:latin typeface="Noto Sans T Chinese"/>
                <a:ea typeface="Noto Sans T Chinese"/>
              </a:rPr>
              <a:t>繳交</a:t>
            </a:r>
            <a:r>
              <a:rPr lang="zh-TW" altLang="en-US" sz="3600" b="1">
                <a:solidFill>
                  <a:srgbClr val="000000"/>
                </a:solidFill>
                <a:latin typeface="Noto Sans T Chinese"/>
                <a:ea typeface="Noto Sans T Chinese"/>
              </a:rPr>
              <a:t>期限</a:t>
            </a:r>
            <a:endParaRPr sz="3600" b="1">
              <a:solidFill>
                <a:srgbClr val="000000"/>
              </a:solidFill>
              <a:latin typeface="Noto Sans T Chinese"/>
              <a:ea typeface="Noto Sans T Chinese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C09AC9-94CE-4832-8659-ECA5ACE77377}"/>
              </a:ext>
            </a:extLst>
          </p:cNvPr>
          <p:cNvSpPr>
            <a:spLocks noGrp="1"/>
          </p:cNvSpPr>
          <p:nvPr/>
        </p:nvSpPr>
        <p:spPr>
          <a:xfrm>
            <a:off x="1333498" y="4224942"/>
            <a:ext cx="15403997" cy="16116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195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zh-TW" altLang="en-US" sz="26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以作業區截止日期為主（雖然有開放事後繳交但會看繳交時間）</a:t>
            </a:r>
            <a:endParaRPr lang="en-US" altLang="zh-TW" sz="260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95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lang="zh-TW" altLang="en-US" sz="26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遲交視為補交，分數以</a:t>
            </a:r>
            <a:r>
              <a:rPr lang="en-US" altLang="zh-TW" sz="26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8</a:t>
            </a:r>
            <a:r>
              <a:rPr lang="zh-TW" altLang="en-US" sz="26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折計算</a:t>
            </a:r>
            <a:endParaRPr sz="2600">
              <a:solidFill>
                <a:srgbClr val="000000"/>
              </a:solidFill>
              <a:latin typeface="Noto Sans T Chinese"/>
              <a:ea typeface="Noto Sans T Chinese"/>
              <a:cs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106691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9EA5678-0A13-412F-A165-1572BFBC1AC5}"/>
              </a:ext>
            </a:extLst>
          </p:cNvPr>
          <p:cNvSpPr>
            <a:spLocks noGrp="1"/>
          </p:cNvSpPr>
          <p:nvPr/>
        </p:nvSpPr>
        <p:spPr>
          <a:xfrm>
            <a:off x="1435132" y="537496"/>
            <a:ext cx="5715000" cy="924433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79"/>
              </a:lnSpc>
              <a:buNone/>
              <a:def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defRPr>
            </a:pPr>
            <a:r>
              <a:rPr sz="3600" b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</a:rPr>
              <a:t>扣分說明</a:t>
            </a:r>
            <a:endParaRPr sz="5199" b="1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E458AFA-CA8C-4B82-9245-3ACADE394BCD}"/>
              </a:ext>
            </a:extLst>
          </p:cNvPr>
          <p:cNvSpPr>
            <a:spLocks noGrp="1"/>
          </p:cNvSpPr>
          <p:nvPr/>
        </p:nvSpPr>
        <p:spPr>
          <a:xfrm>
            <a:off x="1240576" y="7682377"/>
            <a:ext cx="17047424" cy="135318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759321-16D8-408F-901C-557BAE8A234E}"/>
              </a:ext>
            </a:extLst>
          </p:cNvPr>
          <p:cNvSpPr>
            <a:spLocks noGrp="1"/>
          </p:cNvSpPr>
          <p:nvPr/>
        </p:nvSpPr>
        <p:spPr>
          <a:xfrm>
            <a:off x="1333500" y="7620000"/>
            <a:ext cx="762000" cy="95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8" name="Google Shape;164;p10">
            <a:extLst>
              <a:ext uri="{FF2B5EF4-FFF2-40B4-BE49-F238E27FC236}">
                <a16:creationId xmlns:a16="http://schemas.microsoft.com/office/drawing/2014/main" id="{E0575238-B587-4A20-9122-05F3875C0FF7}"/>
              </a:ext>
            </a:extLst>
          </p:cNvPr>
          <p:cNvSpPr txBox="1"/>
          <p:nvPr/>
        </p:nvSpPr>
        <p:spPr>
          <a:xfrm>
            <a:off x="1240576" y="1714500"/>
            <a:ext cx="16493167" cy="6159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7870" marR="0" lvl="1" indent="-45720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en-US" altLang="zh-TW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 0</a:t>
            </a: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～</a:t>
            </a:r>
            <a:r>
              <a:rPr lang="en-US" altLang="zh-TW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 6 </a:t>
            </a: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將綜合評估指定任務或方法是否正確實作、訓練與評估流程是否符合規範，以及指定輸出是否完整。</a:t>
            </a:r>
            <a:endParaRPr lang="en-US" altLang="zh-TW" sz="2599" b="0" i="0" u="none" strike="noStrike" cap="non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1195070" lvl="2" indent="-457200">
              <a:lnSpc>
                <a:spcPct val="140015"/>
              </a:lnSpc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若題目要求的結果未實際顯示於 </a:t>
            </a:r>
            <a:r>
              <a:rPr lang="en-US" altLang="zh-TW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Notebook </a:t>
            </a: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中，該輸出項目不予計分；其餘可驗證內容仍依完成程度給分</a:t>
            </a:r>
            <a:endParaRPr lang="en-US" altLang="zh-TW" sz="2599" b="0" i="0" u="none" strike="noStrike" cap="non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1195070" lvl="2" indent="-457200">
              <a:lnSpc>
                <a:spcPct val="140015"/>
              </a:lnSpc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未輸出包含但不限於下列情形：</a:t>
            </a:r>
            <a:endParaRPr lang="en-US" altLang="zh-TW" sz="2599" b="0" i="0" u="none" strike="noStrike" cap="non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1652270" lvl="3" indent="-457200">
              <a:lnSpc>
                <a:spcPct val="140015"/>
              </a:lnSpc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僅撰寫程式碼，但未執行。</a:t>
            </a:r>
            <a:endParaRPr lang="en-US" altLang="zh-TW" sz="2599" b="0" i="0" u="none" strike="noStrike" cap="non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1652270" lvl="3" indent="-457200">
              <a:lnSpc>
                <a:spcPct val="140015"/>
              </a:lnSpc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程式碼已執行，但未顯示題目要求的結果。</a:t>
            </a:r>
            <a:endParaRPr lang="en-US" altLang="zh-TW" sz="2599" b="0" i="0" u="none" strike="noStrike" cap="non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1195070" lvl="2" indent="-457200">
              <a:lnSpc>
                <a:spcPct val="140015"/>
              </a:lnSpc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程式碼內容與題旨不符，致使無法驗證指定要求是否完成。</a:t>
            </a:r>
            <a:endParaRPr lang="en-US" altLang="zh-TW" sz="2599" b="0" i="0" u="none" strike="noStrike" cap="non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737870" marR="0" lvl="1" indent="-45720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若有完成部分內容，但輸出結果缺少題目要求的項目，則依完成程度給予部分分數</a:t>
            </a:r>
            <a:endParaRPr sz="2599" b="0" i="0" u="none" strike="noStrike" cap="non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737870" marR="0" lvl="1" indent="-45720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應以教師提供的 </a:t>
            </a:r>
            <a:r>
              <a:rPr lang="en-US" altLang="zh-TW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CNN </a:t>
            </a: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起始程式碼為基礎完成作業。不得以 </a:t>
            </a:r>
            <a:r>
              <a:rPr lang="en-US" altLang="zh-TW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Test Set </a:t>
            </a: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調整模型、選擇超參數或選擇最佳 </a:t>
            </a:r>
            <a:r>
              <a:rPr lang="en-US" altLang="zh-TW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epoch</a:t>
            </a:r>
            <a:r>
              <a:rPr 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，</a:t>
            </a: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違反者將依情況扣分。</a:t>
            </a:r>
            <a:endParaRPr lang="en-US" altLang="zh-TW" sz="2599" b="0" i="0" u="none" strike="noStrike" cap="non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737870" marR="0" lvl="1" indent="-45720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 panose="020B0604020202020204" pitchFamily="34" charset="0"/>
              <a:buChar char="•"/>
            </a:pPr>
            <a:r>
              <a:rPr lang="zh-TW" altLang="en-US" sz="2599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未依規定命名檔案或未依規定格式繳交者，酌予扣分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074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9873</TotalTime>
  <Words>1079</Words>
  <Application>Microsoft Office PowerPoint</Application>
  <DocSecurity>0</DocSecurity>
  <PresentationFormat>自訂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Noto Sans T Chinese</vt:lpstr>
      <vt:lpstr>Arial</vt:lpstr>
      <vt:lpstr>Noto Sans TC</vt:lpstr>
      <vt:lpstr>Noto Sans T Chinese Bold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17</cp:revision>
  <dcterms:created xsi:type="dcterms:W3CDTF">2026-09-17T06:06:04Z</dcterms:created>
  <dcterms:modified xsi:type="dcterms:W3CDTF">2026-10-01T08:22:25Z</dcterms:modified>
</cp:coreProperties>
</file>